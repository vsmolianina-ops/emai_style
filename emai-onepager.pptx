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embeddedFontLst>
    <p:embeddedFont>
      <p:font typeface="Gantari"/>
      <p:regular r:id="rId8"/>
      <p:bold r:id="rId9"/>
    </p:embeddedFont>
    <p:embeddedFont>
      <p:font typeface="Inter"/>
      <p:regular r:id="rId10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06240" cy="6400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37744" y="237744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555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none"/>
          <a:lstStyle/>
          <a:p>
            <a:pPr algn="ctr"/>
            <a:r>
              <a:rPr sz="850" b="1" spc="20">
                <a:solidFill>
                  <a:srgbClr val="FFFFFF"/>
                </a:solidFill>
                <a:latin typeface="Inter"/>
                <a:ea typeface="Inter"/>
                <a:cs typeface="Inter"/>
              </a:rPr>
              <a:t>MADE IN EUROPE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17904" y="237744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555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none"/>
          <a:lstStyle/>
          <a:p>
            <a:pPr algn="ctr"/>
            <a:r>
              <a:rPr sz="850" b="1" spc="20">
                <a:solidFill>
                  <a:srgbClr val="FFFFFF"/>
                </a:solidFill>
                <a:latin typeface="Inter"/>
                <a:ea typeface="Inter"/>
                <a:cs typeface="Inter"/>
              </a:rPr>
              <a:t>GDPR-COMPLIANT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53712" y="2560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5E6273"/>
                </a:solidFill>
                <a:latin typeface="Gantari"/>
                <a:ea typeface="Gantari"/>
                <a:cs typeface="Gantari"/>
              </a:rPr>
              <a:t>EMA</a:t>
            </a:r>
            <a:r>
              <a:rPr sz="2400" b="1">
                <a:solidFill>
                  <a:srgbClr val="D69043"/>
                </a:solidFill>
                <a:latin typeface="Gantari"/>
                <a:ea typeface="Gantari"/>
                <a:cs typeface="Gantari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53712" y="64008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50">
                <a:solidFill>
                  <a:srgbClr val="D69043"/>
                </a:solidFill>
                <a:latin typeface="Inter"/>
                <a:ea typeface="Inter"/>
                <a:cs typeface="Inter"/>
              </a:rPr>
              <a:t>caring by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712" y="274320"/>
            <a:ext cx="731794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spc="160">
                <a:solidFill>
                  <a:srgbClr val="B87530"/>
                </a:solidFill>
                <a:latin typeface="Inter"/>
                <a:ea typeface="Inter"/>
                <a:cs typeface="Inter"/>
              </a:rPr>
              <a:t>AI VOICE ASSISTANT FOR SENIORS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2" y="548640"/>
            <a:ext cx="5214823" cy="347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200" b="1">
                <a:solidFill>
                  <a:srgbClr val="2D3142"/>
                </a:solidFill>
                <a:latin typeface="Gantari"/>
                <a:ea typeface="Gantari"/>
                <a:cs typeface="Gantari"/>
              </a:rPr>
              <a:t>Independent living. Peace of mind.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950976"/>
            <a:ext cx="512338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E6472"/>
                </a:solidFill>
                <a:latin typeface="Inter"/>
                <a:ea typeface="Inter"/>
                <a:cs typeface="Inter"/>
              </a:rPr>
              <a:t>An intelligent voice assistant that listens to seniors, relieves care teams and connects families — no screens, no barriers.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53712" y="1444752"/>
            <a:ext cx="7317943" cy="12700"/>
          </a:xfrm>
          <a:prstGeom prst="rect">
            <a:avLst/>
          </a:prstGeom>
          <a:solidFill>
            <a:srgbClr val="E2DD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554480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spc="160">
                <a:solidFill>
                  <a:srgbClr val="B87530"/>
                </a:solidFill>
                <a:latin typeface="Inter"/>
                <a:ea typeface="Inter"/>
                <a:cs typeface="Inter"/>
              </a:rPr>
              <a:t>THE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1563624"/>
            <a:ext cx="439186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A8090"/>
                </a:solidFill>
                <a:latin typeface="Inter"/>
                <a:ea typeface="Inter"/>
                <a:cs typeface="Inter"/>
              </a:rPr>
              <a:t>An aging society meets an overstretched care system.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810512"/>
            <a:ext cx="22686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D69043"/>
                </a:solidFill>
                <a:latin typeface="Gantari"/>
                <a:ea typeface="Gantari"/>
                <a:cs typeface="Gantari"/>
              </a:rPr>
              <a:t>19M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084832"/>
            <a:ext cx="226862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D3142"/>
                </a:solidFill>
                <a:latin typeface="Gantari"/>
                <a:ea typeface="Gantari"/>
                <a:cs typeface="Gantari"/>
              </a:rPr>
              <a:t>Seniors aged 65+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276856"/>
            <a:ext cx="22686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5E6472"/>
                </a:solidFill>
                <a:latin typeface="Inter"/>
                <a:ea typeface="Inter"/>
                <a:cs typeface="Inter"/>
              </a:rPr>
              <a:t>Health risks, isolation and barriers to modern technology.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8370" y="1810512"/>
            <a:ext cx="22686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D69043"/>
                </a:solidFill>
                <a:latin typeface="Gantari"/>
                <a:ea typeface="Gantari"/>
                <a:cs typeface="Gantari"/>
              </a:rPr>
              <a:t>~30K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8370" y="2084832"/>
            <a:ext cx="226862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D3142"/>
                </a:solidFill>
                <a:latin typeface="Gantari"/>
                <a:ea typeface="Gantari"/>
                <a:cs typeface="Gantari"/>
              </a:rPr>
              <a:t>Care providers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8370" y="2276856"/>
            <a:ext cx="22686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5E6472"/>
                </a:solidFill>
                <a:latin typeface="Inter"/>
                <a:ea typeface="Inter"/>
                <a:cs typeface="Inter"/>
              </a:rPr>
              <a:t>Staff shortage, growing workload, fragmented IT systems.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1210" y="1847088"/>
            <a:ext cx="12700" cy="676656"/>
          </a:xfrm>
          <a:prstGeom prst="rect">
            <a:avLst/>
          </a:prstGeom>
          <a:solidFill>
            <a:srgbClr val="E2DD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3028" y="1810512"/>
            <a:ext cx="22686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D69043"/>
                </a:solidFill>
                <a:latin typeface="Gantari"/>
                <a:ea typeface="Gantari"/>
                <a:cs typeface="Gantari"/>
              </a:rPr>
              <a:t>Families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3028" y="2084832"/>
            <a:ext cx="226862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D3142"/>
                </a:solidFill>
                <a:latin typeface="Gantari"/>
                <a:ea typeface="Gantari"/>
                <a:cs typeface="Gantari"/>
              </a:rPr>
              <a:t>Informal caregivers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3028" y="2276856"/>
            <a:ext cx="22686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5E6472"/>
                </a:solidFill>
                <a:latin typeface="Inter"/>
                <a:ea typeface="Inter"/>
                <a:cs typeface="Inter"/>
              </a:rPr>
              <a:t>Little time, long distances, constant worry about safety.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65868" y="1847088"/>
            <a:ext cx="12700" cy="676656"/>
          </a:xfrm>
          <a:prstGeom prst="rect">
            <a:avLst/>
          </a:prstGeom>
          <a:solidFill>
            <a:srgbClr val="E2DD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53712" y="2651760"/>
            <a:ext cx="7317943" cy="12700"/>
          </a:xfrm>
          <a:prstGeom prst="rect">
            <a:avLst/>
          </a:prstGeom>
          <a:solidFill>
            <a:srgbClr val="E2DD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2724912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spc="160">
                <a:solidFill>
                  <a:srgbClr val="B87530"/>
                </a:solidFill>
                <a:latin typeface="Inter"/>
                <a:ea typeface="Inter"/>
                <a:cs typeface="Inter"/>
              </a:rPr>
              <a:t>THE 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2907792"/>
            <a:ext cx="4023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D3142"/>
                </a:solidFill>
                <a:latin typeface="Gantari"/>
                <a:ea typeface="Gantari"/>
                <a:cs typeface="Gantari"/>
              </a:rPr>
              <a:t>One voice. Three winners.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7072" y="2816352"/>
            <a:ext cx="32945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A8090"/>
                </a:solidFill>
                <a:latin typeface="Inter"/>
                <a:ea typeface="Inter"/>
                <a:cs typeface="Inter"/>
              </a:rPr>
              <a:t>Natural conversation in 17+ languages —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A8090"/>
                </a:solidFill>
                <a:latin typeface="Inter"/>
                <a:ea typeface="Inter"/>
                <a:cs typeface="Inter"/>
              </a:rPr>
              <a:t>voice-first instead of complicated.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53712" y="3218688"/>
            <a:ext cx="2317394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0016" y="3328416"/>
            <a:ext cx="202478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spc="120">
                <a:solidFill>
                  <a:srgbClr val="7A8090"/>
                </a:solidFill>
                <a:latin typeface="Inter"/>
                <a:ea typeface="Inter"/>
                <a:cs typeface="Inter"/>
              </a:rPr>
              <a:t>FOR SENIORS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0016" y="3483864"/>
            <a:ext cx="202478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3142"/>
                </a:solidFill>
                <a:latin typeface="Gantari"/>
                <a:ea typeface="Gantari"/>
                <a:cs typeface="Gantari"/>
              </a:rPr>
              <a:t>Independent every 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0016" y="3730752"/>
            <a:ext cx="202478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D69043"/>
                </a:solidFill>
                <a:latin typeface="Inter"/>
                <a:ea typeface="Inter"/>
                <a:cs typeface="Inter"/>
              </a:rPr>
              <a:t>○  </a:t>
            </a:r>
            <a:r>
              <a:rPr sz="800" b="0">
                <a:solidFill>
                  <a:srgbClr val="5E6472"/>
                </a:solidFill>
                <a:latin typeface="Inter"/>
                <a:ea typeface="Inter"/>
                <a:cs typeface="Inter"/>
              </a:rPr>
              <a:t>Medication &amp; visit reminders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D69043"/>
                </a:solidFill>
                <a:latin typeface="Inter"/>
                <a:ea typeface="Inter"/>
                <a:cs typeface="Inter"/>
              </a:rPr>
              <a:t>○  </a:t>
            </a:r>
            <a:r>
              <a:rPr sz="800" b="0">
                <a:solidFill>
                  <a:srgbClr val="5E6472"/>
                </a:solidFill>
                <a:latin typeface="Inter"/>
                <a:ea typeface="Inter"/>
                <a:cs typeface="Inter"/>
              </a:rPr>
              <a:t>Voice calls, messages &amp; SOS alerts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D69043"/>
                </a:solidFill>
                <a:latin typeface="Inter"/>
                <a:ea typeface="Inter"/>
                <a:cs typeface="Inter"/>
              </a:rPr>
              <a:t>○  </a:t>
            </a:r>
            <a:r>
              <a:rPr sz="800" b="0">
                <a:solidFill>
                  <a:srgbClr val="5E6472"/>
                </a:solidFill>
                <a:latin typeface="Inter"/>
                <a:ea typeface="Inter"/>
                <a:cs typeface="Inter"/>
              </a:rPr>
              <a:t>Conversation in 17+ languages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0016" y="4242816"/>
            <a:ext cx="202478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D69043"/>
                </a:solidFill>
                <a:latin typeface="Inter"/>
                <a:ea typeface="Inter"/>
                <a:cs typeface="Inter"/>
              </a:rPr>
              <a:t>—  </a:t>
            </a:r>
            <a:r>
              <a:rPr sz="850" b="1">
                <a:solidFill>
                  <a:srgbClr val="B87530"/>
                </a:solidFill>
                <a:latin typeface="Inter"/>
                <a:ea typeface="Inter"/>
                <a:cs typeface="Inter"/>
              </a:rPr>
              <a:t>Supports independent living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53986" y="3218688"/>
            <a:ext cx="2317394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00290" y="3328416"/>
            <a:ext cx="202478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spc="120">
                <a:solidFill>
                  <a:srgbClr val="7A8090"/>
                </a:solidFill>
                <a:latin typeface="Inter"/>
                <a:ea typeface="Inter"/>
                <a:cs typeface="Inter"/>
              </a:rPr>
              <a:t>FOR CARE PROVIDERS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0290" y="3483864"/>
            <a:ext cx="202478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3142"/>
                </a:solidFill>
                <a:latin typeface="Gantari"/>
                <a:ea typeface="Gantari"/>
                <a:cs typeface="Gantari"/>
              </a:rPr>
              <a:t>More time for care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0290" y="3730752"/>
            <a:ext cx="202478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D69043"/>
                </a:solidFill>
                <a:latin typeface="Inter"/>
                <a:ea typeface="Inter"/>
                <a:cs typeface="Inter"/>
              </a:rPr>
              <a:t>○  </a:t>
            </a:r>
            <a:r>
              <a:rPr sz="800" b="0">
                <a:solidFill>
                  <a:srgbClr val="5E6472"/>
                </a:solidFill>
                <a:latin typeface="Inter"/>
                <a:ea typeface="Inter"/>
                <a:cs typeface="Inter"/>
              </a:rPr>
              <a:t>Automates 20–30 requests per day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D69043"/>
                </a:solidFill>
                <a:latin typeface="Inter"/>
                <a:ea typeface="Inter"/>
                <a:cs typeface="Inter"/>
              </a:rPr>
              <a:t>○  </a:t>
            </a:r>
            <a:r>
              <a:rPr sz="800" b="0">
                <a:solidFill>
                  <a:srgbClr val="5E6472"/>
                </a:solidFill>
                <a:latin typeface="Inter"/>
                <a:ea typeface="Inter"/>
                <a:cs typeface="Inter"/>
              </a:rPr>
              <a:t>Central dashboard, early detection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D69043"/>
                </a:solidFill>
                <a:latin typeface="Inter"/>
                <a:ea typeface="Inter"/>
                <a:cs typeface="Inter"/>
              </a:rPr>
              <a:t>○  </a:t>
            </a:r>
            <a:r>
              <a:rPr sz="800" b="0">
                <a:solidFill>
                  <a:srgbClr val="5E6472"/>
                </a:solidFill>
                <a:latin typeface="Inter"/>
                <a:ea typeface="Inter"/>
                <a:cs typeface="Inter"/>
              </a:rPr>
              <a:t>FHIR/HL7 · BEEP / §113c SGB XI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0290" y="4242816"/>
            <a:ext cx="202478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D69043"/>
                </a:solidFill>
                <a:latin typeface="Inter"/>
                <a:ea typeface="Inter"/>
                <a:cs typeface="Inter"/>
              </a:rPr>
              <a:t>—  </a:t>
            </a:r>
            <a:r>
              <a:rPr sz="850" b="1">
                <a:solidFill>
                  <a:srgbClr val="B87530"/>
                </a:solidFill>
                <a:latin typeface="Inter"/>
                <a:ea typeface="Inter"/>
                <a:cs typeface="Inter"/>
              </a:rPr>
              <a:t>€0 upfront for providers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54260" y="3218688"/>
            <a:ext cx="2317394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00564" y="3328416"/>
            <a:ext cx="202478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spc="120">
                <a:solidFill>
                  <a:srgbClr val="7A8090"/>
                </a:solidFill>
                <a:latin typeface="Inter"/>
                <a:ea typeface="Inter"/>
                <a:cs typeface="Inter"/>
              </a:rPr>
              <a:t>FOR FAMILIES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00564" y="3483864"/>
            <a:ext cx="202478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3142"/>
                </a:solidFill>
                <a:latin typeface="Gantari"/>
                <a:ea typeface="Gantari"/>
                <a:cs typeface="Gantari"/>
              </a:rPr>
              <a:t>Connected from afar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00564" y="3730752"/>
            <a:ext cx="202478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D69043"/>
                </a:solidFill>
                <a:latin typeface="Inter"/>
                <a:ea typeface="Inter"/>
                <a:cs typeface="Inter"/>
              </a:rPr>
              <a:t>○  </a:t>
            </a:r>
            <a:r>
              <a:rPr sz="800" b="0">
                <a:solidFill>
                  <a:srgbClr val="5E6472"/>
                </a:solidFill>
                <a:latin typeface="Inter"/>
                <a:ea typeface="Inter"/>
                <a:cs typeface="Inter"/>
              </a:rPr>
              <a:t>Remote monitoring via app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D69043"/>
                </a:solidFill>
                <a:latin typeface="Inter"/>
                <a:ea typeface="Inter"/>
                <a:cs typeface="Inter"/>
              </a:rPr>
              <a:t>○  </a:t>
            </a:r>
            <a:r>
              <a:rPr sz="800" b="0">
                <a:solidFill>
                  <a:srgbClr val="5E6472"/>
                </a:solidFill>
                <a:latin typeface="Inter"/>
                <a:ea typeface="Inter"/>
                <a:cs typeface="Inter"/>
              </a:rPr>
              <a:t>Activity updates, calls &amp; chat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D69043"/>
                </a:solidFill>
                <a:latin typeface="Inter"/>
                <a:ea typeface="Inter"/>
                <a:cs typeface="Inter"/>
              </a:rPr>
              <a:t>○  </a:t>
            </a:r>
            <a:r>
              <a:rPr sz="800" b="0">
                <a:solidFill>
                  <a:srgbClr val="5E6472"/>
                </a:solidFill>
                <a:latin typeface="Inter"/>
                <a:ea typeface="Inter"/>
                <a:cs typeface="Inter"/>
              </a:rPr>
              <a:t>Instant emergency notifications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00564" y="4242816"/>
            <a:ext cx="202478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D69043"/>
                </a:solidFill>
                <a:latin typeface="Inter"/>
                <a:ea typeface="Inter"/>
                <a:cs typeface="Inter"/>
              </a:rPr>
              <a:t>—  </a:t>
            </a:r>
            <a:r>
              <a:rPr sz="850" b="1">
                <a:solidFill>
                  <a:srgbClr val="B87530"/>
                </a:solidFill>
                <a:latin typeface="Inter"/>
                <a:ea typeface="Inter"/>
                <a:cs typeface="Inter"/>
              </a:rPr>
              <a:t>Peace of mind from anywhere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53712" y="4608576"/>
            <a:ext cx="7317943" cy="310896"/>
          </a:xfrm>
          <a:prstGeom prst="roundRect">
            <a:avLst>
              <a:gd name="adj" fmla="val 42000"/>
            </a:avLst>
          </a:prstGeom>
          <a:solidFill>
            <a:srgbClr val="EF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36592" y="4608576"/>
            <a:ext cx="512064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87530"/>
                </a:solidFill>
                <a:latin typeface="Inter"/>
                <a:ea typeface="Inter"/>
                <a:cs typeface="Inter"/>
              </a:rPr>
              <a:t>€200</a:t>
            </a:r>
            <a:r>
              <a:rPr sz="850" b="0">
                <a:solidFill>
                  <a:srgbClr val="2D3142"/>
                </a:solidFill>
                <a:latin typeface="Inter"/>
                <a:ea typeface="Inter"/>
                <a:cs typeface="Inter"/>
              </a:rPr>
              <a:t> device  ·  </a:t>
            </a:r>
            <a:r>
              <a:rPr sz="850" b="1">
                <a:solidFill>
                  <a:srgbClr val="B87530"/>
                </a:solidFill>
                <a:latin typeface="Inter"/>
                <a:ea typeface="Inter"/>
                <a:cs typeface="Inter"/>
              </a:rPr>
              <a:t>€40</a:t>
            </a:r>
            <a:r>
              <a:rPr sz="850" b="0">
                <a:solidFill>
                  <a:srgbClr val="2D3142"/>
                </a:solidFill>
                <a:latin typeface="Inter"/>
                <a:ea typeface="Inter"/>
                <a:cs typeface="Inter"/>
              </a:rPr>
              <a:t>/month reimbursable  ·  providers </a:t>
            </a:r>
            <a:r>
              <a:rPr sz="850" b="1">
                <a:solidFill>
                  <a:srgbClr val="B87530"/>
                </a:solidFill>
                <a:latin typeface="Inter"/>
                <a:ea typeface="Inter"/>
                <a:cs typeface="Inter"/>
              </a:rPr>
              <a:t>€0</a:t>
            </a:r>
            <a:r>
              <a:rPr sz="850" b="0">
                <a:solidFill>
                  <a:srgbClr val="2D3142"/>
                </a:solidFill>
                <a:latin typeface="Inter"/>
                <a:ea typeface="Inter"/>
                <a:cs typeface="Inter"/>
              </a:rPr>
              <a:t> + up to </a:t>
            </a:r>
            <a:r>
              <a:rPr sz="850" b="1">
                <a:solidFill>
                  <a:srgbClr val="B87530"/>
                </a:solidFill>
                <a:latin typeface="Inter"/>
                <a:ea typeface="Inter"/>
                <a:cs typeface="Inter"/>
              </a:rPr>
              <a:t>€30</a:t>
            </a:r>
            <a:r>
              <a:rPr sz="850" b="0">
                <a:solidFill>
                  <a:srgbClr val="2D3142"/>
                </a:solidFill>
                <a:latin typeface="Inter"/>
                <a:ea typeface="Inter"/>
                <a:cs typeface="Inter"/>
              </a:rPr>
              <a:t>/user reimbursed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57232" y="4608576"/>
            <a:ext cx="1831543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E6472"/>
                </a:solidFill>
                <a:latin typeface="Inter"/>
                <a:ea typeface="Inter"/>
                <a:cs typeface="Inter"/>
              </a:rPr>
              <a:t>Made in Europe · GDPR · EU servers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5029200"/>
            <a:ext cx="19261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spc="160">
                <a:solidFill>
                  <a:srgbClr val="B87530"/>
                </a:solidFill>
                <a:latin typeface="Inter"/>
                <a:ea typeface="Inter"/>
                <a:cs typeface="Inter"/>
              </a:rPr>
              <a:t>THE MARKET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53712" y="5266944"/>
            <a:ext cx="1926128" cy="12700"/>
          </a:xfrm>
          <a:prstGeom prst="rect">
            <a:avLst/>
          </a:prstGeom>
          <a:solidFill>
            <a:srgbClr val="E2DD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53712" y="5308092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spc="80">
                <a:solidFill>
                  <a:srgbClr val="7A8090"/>
                </a:solidFill>
                <a:latin typeface="Inter"/>
                <a:ea typeface="Inter"/>
                <a:cs typeface="Inter"/>
              </a:rPr>
              <a:t>TAM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5289804"/>
            <a:ext cx="1450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3142"/>
                </a:solidFill>
                <a:latin typeface="Gantari"/>
                <a:ea typeface="Gantari"/>
                <a:cs typeface="Gantari"/>
              </a:rPr>
              <a:t>€11–15B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5472684"/>
            <a:ext cx="145064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E6472"/>
                </a:solidFill>
                <a:latin typeface="Inter"/>
                <a:ea typeface="Inter"/>
                <a:cs typeface="Inter"/>
              </a:rPr>
              <a:t>Assistive tech, Europe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53712" y="5614416"/>
            <a:ext cx="1926128" cy="12700"/>
          </a:xfrm>
          <a:prstGeom prst="rect">
            <a:avLst/>
          </a:prstGeom>
          <a:solidFill>
            <a:srgbClr val="E2DD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53712" y="5655564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spc="80">
                <a:solidFill>
                  <a:srgbClr val="7A8090"/>
                </a:solidFill>
                <a:latin typeface="Inter"/>
                <a:ea typeface="Inter"/>
                <a:cs typeface="Inter"/>
              </a:rPr>
              <a:t>SAM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0" y="5637276"/>
            <a:ext cx="1450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3142"/>
                </a:solidFill>
                <a:latin typeface="Gantari"/>
                <a:ea typeface="Gantari"/>
                <a:cs typeface="Gantari"/>
              </a:rPr>
              <a:t>€1–3B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0" y="5820156"/>
            <a:ext cx="145064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E6472"/>
                </a:solidFill>
                <a:latin typeface="Inter"/>
                <a:ea typeface="Inter"/>
                <a:cs typeface="Inter"/>
              </a:rPr>
              <a:t>Home care, Germany + EU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53712" y="5961888"/>
            <a:ext cx="1926128" cy="12700"/>
          </a:xfrm>
          <a:prstGeom prst="rect">
            <a:avLst/>
          </a:prstGeom>
          <a:solidFill>
            <a:srgbClr val="E2DD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53712" y="6003036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spc="80">
                <a:solidFill>
                  <a:srgbClr val="7A8090"/>
                </a:solidFill>
                <a:latin typeface="Inter"/>
                <a:ea typeface="Inter"/>
                <a:cs typeface="Inter"/>
              </a:rPr>
              <a:t>SOM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5984748"/>
            <a:ext cx="1450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3142"/>
                </a:solidFill>
                <a:latin typeface="Gantari"/>
                <a:ea typeface="Gantari"/>
                <a:cs typeface="Gantari"/>
              </a:rPr>
              <a:t>€100–150M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0" y="6167628"/>
            <a:ext cx="145064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E6472"/>
                </a:solidFill>
                <a:latin typeface="Inter"/>
                <a:ea typeface="Inter"/>
                <a:cs typeface="Inter"/>
              </a:rPr>
              <a:t>Via care provider networks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53712" y="6309360"/>
            <a:ext cx="1926128" cy="12700"/>
          </a:xfrm>
          <a:prstGeom prst="rect">
            <a:avLst/>
          </a:prstGeom>
          <a:solidFill>
            <a:srgbClr val="E2DD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99296" y="5029200"/>
            <a:ext cx="2338870" cy="1353312"/>
          </a:xfrm>
          <a:prstGeom prst="roundRect">
            <a:avLst>
              <a:gd name="adj" fmla="val 10000"/>
            </a:avLst>
          </a:prstGeom>
          <a:solidFill>
            <a:srgbClr val="2D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00464" y="5175504"/>
            <a:ext cx="19365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spc="160">
                <a:solidFill>
                  <a:srgbClr val="E8B074"/>
                </a:solidFill>
                <a:latin typeface="Inter"/>
                <a:ea typeface="Inter"/>
                <a:cs typeface="Inter"/>
              </a:rPr>
              <a:t>THE ASK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00464" y="5431536"/>
            <a:ext cx="96826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spc="100">
                <a:solidFill>
                  <a:srgbClr val="A9ACB6"/>
                </a:solidFill>
                <a:latin typeface="Inter"/>
                <a:ea typeface="Inter"/>
                <a:cs typeface="Inter"/>
              </a:rPr>
              <a:t>INVESTMENT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00464" y="5577840"/>
            <a:ext cx="9682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antari"/>
                <a:ea typeface="Gantari"/>
                <a:cs typeface="Gantari"/>
              </a:rPr>
              <a:t>€900K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68731" y="5431536"/>
            <a:ext cx="968267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spc="100">
                <a:solidFill>
                  <a:srgbClr val="A9ACB6"/>
                </a:solidFill>
                <a:latin typeface="Inter"/>
                <a:ea typeface="Inter"/>
                <a:cs typeface="Inter"/>
              </a:rPr>
              <a:t>PRE-MONEY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68731" y="5577840"/>
            <a:ext cx="9682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antari"/>
                <a:ea typeface="Gantari"/>
                <a:cs typeface="Gantari"/>
              </a:rPr>
              <a:t>€3.6M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00464" y="5998464"/>
            <a:ext cx="1936534" cy="12700"/>
          </a:xfrm>
          <a:prstGeom prst="rect">
            <a:avLst/>
          </a:prstGeom>
          <a:solidFill>
            <a:srgbClr val="4A4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00464" y="6080760"/>
            <a:ext cx="1936534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E0E1E6"/>
                </a:solidFill>
                <a:latin typeface="Inter"/>
                <a:ea typeface="Inter"/>
                <a:cs typeface="Inter"/>
              </a:rPr>
              <a:t>Co-investment open · Min. ticket </a:t>
            </a:r>
            <a:r>
              <a:rPr sz="800" b="1">
                <a:solidFill>
                  <a:srgbClr val="E8B074"/>
                </a:solidFill>
                <a:latin typeface="Inter"/>
                <a:ea typeface="Inter"/>
                <a:cs typeface="Inter"/>
              </a:rPr>
              <a:t>€250K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57623" y="5029200"/>
            <a:ext cx="261403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spc="160">
                <a:solidFill>
                  <a:srgbClr val="B87530"/>
                </a:solidFill>
                <a:latin typeface="Inter"/>
                <a:ea typeface="Inter"/>
                <a:cs typeface="Inter"/>
              </a:rPr>
              <a:t>WHY NOW · TRACTION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57623" y="5248656"/>
            <a:ext cx="261403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2D3142"/>
                </a:solidFill>
                <a:latin typeface="Gantari"/>
                <a:ea typeface="Gantari"/>
                <a:cs typeface="Gantari"/>
              </a:rPr>
              <a:t>2026: BEEP Act opens a fast track to reimbursement.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57623" y="5632704"/>
            <a:ext cx="2614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5E6472"/>
                </a:solidFill>
                <a:latin typeface="Inter"/>
                <a:ea typeface="Inter"/>
                <a:cs typeface="Inter"/>
              </a:rPr>
              <a:t>Market entry before full clinical validation — evidence from real-world pilots (GKV).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57623" y="5925312"/>
            <a:ext cx="2614031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87530"/>
                </a:solidFill>
                <a:latin typeface="Inter"/>
                <a:ea typeface="Inter"/>
                <a:cs typeface="Inter"/>
              </a:rPr>
              <a:t>12 MVP users · pilots · pre-orders · 4 LOIs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57623" y="6108192"/>
            <a:ext cx="2614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5E6472"/>
                </a:solidFill>
                <a:latin typeface="Inter"/>
                <a:ea typeface="Inter"/>
                <a:cs typeface="Inter"/>
              </a:rPr>
              <a:t>Funds pilots, regulatory &amp; scaling — Seed in 12–18 months.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D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640080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DEEF2"/>
                </a:solidFill>
                <a:latin typeface="Gantari"/>
                <a:ea typeface="Gantari"/>
                <a:cs typeface="Gantari"/>
              </a:rPr>
              <a:t>EMA</a:t>
            </a:r>
            <a:r>
              <a:rPr sz="1400" b="1">
                <a:solidFill>
                  <a:srgbClr val="D69043"/>
                </a:solidFill>
                <a:latin typeface="Gantari"/>
                <a:ea typeface="Gantari"/>
                <a:cs typeface="Gantari"/>
              </a:rPr>
              <a:t>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80560" y="6400800"/>
            <a:ext cx="729965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E0E1E6"/>
                </a:solidFill>
                <a:latin typeface="Inter"/>
                <a:ea typeface="Inter"/>
                <a:cs typeface="Inter"/>
              </a:rPr>
              <a:t>emai.group        jshelekhova@emai.group        +49 151 72632908        Instagram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