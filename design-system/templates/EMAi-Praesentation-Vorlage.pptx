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Nutzer</c:v>
                </c:pt>
              </c:strCache>
            </c:strRef>
          </c:tx>
          <c:spPr>
            <a:solidFill>
              <a:srgbClr val="D690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 ’27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35</c:v>
                </c:pt>
                <c:pt idx="2">
                  <c:v>80</c:v>
                </c:pt>
                <c:pt idx="3">
                  <c:v>140</c:v>
                </c:pt>
                <c:pt idx="4">
                  <c:v>260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D4D4D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6035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indent="0" marL="0">
              <a:buNone/>
            </a:pPr>
            <a:r>
              <a:rPr lang="en-US" sz="60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2395728" y="2121408"/>
            <a:ext cx="155448" cy="155448"/>
          </a:xfrm>
          <a:prstGeom prst="ellipse">
            <a:avLst/>
          </a:prstGeom>
          <a:solidFill>
            <a:srgbClr val="D690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caring by tech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Der intelligente KI-Begleiter für Senioren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Untertitel · kurze Beschreibung des Decks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· 2026 · vertraulich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E6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ABSCHNITTSTRENNER · VARIANTE A — SURFACE DARK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Abschnittsname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892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Kurze Einordnung des Abschnitts in einem Satz.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69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ABSCHNITTSTRENNER · VARIANTE B — AMBER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7F4EB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Abschnittsname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892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Kurze Einordnung des Abschnitts in einem Satz.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6472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5E6472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INHALT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Folientitel — eine Kernaussage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D690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4EB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Erster Punkt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23134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Kurze Erläuterung des ersten Punktes in ein bis zwei Zeilen.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D6904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4EB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154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Zweiter Punkt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80160" y="35478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Kurze Erläuterung des zweiten Punktes in ein bis zwei Zeilen.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D6904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4EB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389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Dritter Punkt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80160" y="47823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Kurze Erläuterung des dritten Punktes in ein bis zwei Zeilen.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ZWEI SPALTEN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Text links, Bild rechts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Einleitungssatz, der den Gedanken der Folie zusammenfasst.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Erster unterstützender Punkt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Zweiter unterstützender Punkt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Dritter unterstützender Punkt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920240"/>
            <a:ext cx="5120640" cy="3931920"/>
          </a:xfrm>
          <a:prstGeom prst="roundRect">
            <a:avLst>
              <a:gd name="adj" fmla="val 3721"/>
            </a:avLst>
          </a:prstGeom>
          <a:solidFill>
            <a:srgbClr val="EFE9D9"/>
          </a:solidFill>
          <a:ln w="12700">
            <a:solidFill>
              <a:srgbClr val="E2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92024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Bild / Foto 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warmes Licht · echte Menschen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KENNZAHLEN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Key Metrics &amp;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7864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5146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2384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MVP-Teilnehmer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90824" y="2103120"/>
            <a:ext cx="2567864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90824" y="25146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82264" y="3611880"/>
            <a:ext cx="2384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Unterzeichnete LOIs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3008" y="2103120"/>
            <a:ext cx="2567864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3008" y="25146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87,5%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324448" y="3611880"/>
            <a:ext cx="2384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Partner-Conversion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75191" y="2103120"/>
            <a:ext cx="2567864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75191" y="25146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120+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166631" y="3611880"/>
            <a:ext cx="2384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Nutzer in Pipeline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TAM / SAM / SOM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498080" cy="960120"/>
          </a:xfrm>
          <a:prstGeom prst="roundRect">
            <a:avLst>
              <a:gd name="adj" fmla="val 9524"/>
            </a:avLst>
          </a:prstGeom>
          <a:solidFill>
            <a:srgbClr val="D6904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4EB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TAM  </a:t>
            </a:r>
            <a:pPr indent="0" marL="0">
              <a:buNone/>
            </a:pPr>
            <a:r>
              <a:rPr lang="en-US" sz="2000" b="1" dirty="0">
                <a:solidFill>
                  <a:srgbClr val="F7F4EB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€11–15 Mrd.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75320" y="21031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Assistenztechnologien für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Senioren (Europa)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E8B0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375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4EB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SAM  </a:t>
            </a:r>
            <a:pPr indent="0" marL="0">
              <a:buNone/>
            </a:pPr>
            <a:r>
              <a:rPr lang="en-US" sz="2000" b="1" dirty="0">
                <a:solidFill>
                  <a:srgbClr val="F7F4EB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€1–3 Mrd.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97880" y="333756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Häusliche Pflege-Assistenztech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(DE + EU)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2926080" cy="960120"/>
          </a:xfrm>
          <a:prstGeom prst="roundRect">
            <a:avLst>
              <a:gd name="adj" fmla="val 9524"/>
            </a:avLst>
          </a:prstGeom>
          <a:solidFill>
            <a:srgbClr val="EFE9D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572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SOM  </a:t>
            </a:r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€100–150 Mio.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457200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Anfangsmarkt über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Pflegedienst-Netzwerke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Nutzerwachstum (Beispiel)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65960"/>
          <a:ext cx="1109441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VERGLEICH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Pilotpartner — „Hero Institutions“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484778" cy="3840480"/>
          </a:xfrm>
          <a:prstGeom prst="roundRect">
            <a:avLst>
              <a:gd name="adj" fmla="val 3674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317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Right Hands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Berlin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in neue Prozesse; EMAI von Tag eins als Standard.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LOI unterzeichnet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3458" y="2057400"/>
            <a:ext cx="3484778" cy="3840480"/>
          </a:xfrm>
          <a:prstGeom prst="roundRect">
            <a:avLst>
              <a:gd name="adj" fmla="val 3674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7778" y="23317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Oranta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27778" y="278892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Wiesbaden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27778" y="324612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in etablierter Einrichtung; Messung von Effizienzgewinnen.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27778" y="525780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LOI unterzeichnet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8277" y="2057400"/>
            <a:ext cx="3484778" cy="3840480"/>
          </a:xfrm>
          <a:prstGeom prst="roundRect">
            <a:avLst>
              <a:gd name="adj" fmla="val 3674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2597" y="23317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MEDIKUS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32597" y="278892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Wiesbaden, Mainz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32597" y="324612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Zugang zu großen Betreiberketten; EU-weite Skalierung.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32597" y="525780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LOI unterzeichnet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12-Monats-Umsetzungsplan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0728655" cy="0"/>
          </a:xfrm>
          <a:prstGeom prst="line">
            <a:avLst/>
          </a:prstGeom>
          <a:noFill/>
          <a:ln w="25400">
            <a:solidFill>
              <a:srgbClr val="E2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3209544"/>
            <a:ext cx="164592" cy="164592"/>
          </a:xfrm>
          <a:prstGeom prst="ellipse">
            <a:avLst/>
          </a:prstGeom>
          <a:solidFill>
            <a:srgbClr val="D6904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24556" y="3209544"/>
            <a:ext cx="164592" cy="164592"/>
          </a:xfrm>
          <a:prstGeom prst="ellipse">
            <a:avLst/>
          </a:prstGeom>
          <a:solidFill>
            <a:srgbClr val="CACBD3"/>
          </a:solidFill>
          <a:ln/>
        </p:spPr>
      </p:sp>
      <p:sp>
        <p:nvSpPr>
          <p:cNvPr id="8" name="Text 6"/>
          <p:cNvSpPr/>
          <p:nvPr/>
        </p:nvSpPr>
        <p:spPr>
          <a:xfrm>
            <a:off x="1432532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99889" y="3209544"/>
            <a:ext cx="164592" cy="164592"/>
          </a:xfrm>
          <a:prstGeom prst="ellipse">
            <a:avLst/>
          </a:prstGeom>
          <a:solidFill>
            <a:srgbClr val="CACBD3"/>
          </a:solidFill>
          <a:ln/>
        </p:spPr>
      </p:sp>
      <p:sp>
        <p:nvSpPr>
          <p:cNvPr id="10" name="Text 8"/>
          <p:cNvSpPr/>
          <p:nvPr/>
        </p:nvSpPr>
        <p:spPr>
          <a:xfrm>
            <a:off x="2407865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Mär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75221" y="3209544"/>
            <a:ext cx="164592" cy="164592"/>
          </a:xfrm>
          <a:prstGeom prst="ellipse">
            <a:avLst/>
          </a:prstGeom>
          <a:solidFill>
            <a:srgbClr val="D69043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197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50553" y="3209544"/>
            <a:ext cx="164592" cy="164592"/>
          </a:xfrm>
          <a:prstGeom prst="ellipse">
            <a:avLst/>
          </a:prstGeom>
          <a:solidFill>
            <a:srgbClr val="CACBD3"/>
          </a:solidFill>
          <a:ln/>
        </p:spPr>
      </p:sp>
      <p:sp>
        <p:nvSpPr>
          <p:cNvPr id="14" name="Text 12"/>
          <p:cNvSpPr/>
          <p:nvPr/>
        </p:nvSpPr>
        <p:spPr>
          <a:xfrm>
            <a:off x="4358529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25885" y="3209544"/>
            <a:ext cx="164592" cy="164592"/>
          </a:xfrm>
          <a:prstGeom prst="ellipse">
            <a:avLst/>
          </a:prstGeom>
          <a:solidFill>
            <a:srgbClr val="CACBD3"/>
          </a:solidFill>
          <a:ln/>
        </p:spPr>
      </p:sp>
      <p:sp>
        <p:nvSpPr>
          <p:cNvPr id="16" name="Text 14"/>
          <p:cNvSpPr/>
          <p:nvPr/>
        </p:nvSpPr>
        <p:spPr>
          <a:xfrm>
            <a:off x="5333861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01218" y="3209544"/>
            <a:ext cx="164592" cy="164592"/>
          </a:xfrm>
          <a:prstGeom prst="ellipse">
            <a:avLst/>
          </a:prstGeom>
          <a:solidFill>
            <a:srgbClr val="CACBD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194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76550" y="3209544"/>
            <a:ext cx="164592" cy="164592"/>
          </a:xfrm>
          <a:prstGeom prst="ellipse">
            <a:avLst/>
          </a:prstGeom>
          <a:solidFill>
            <a:srgbClr val="D69043"/>
          </a:solidFill>
          <a:ln/>
        </p:spPr>
      </p:sp>
      <p:sp>
        <p:nvSpPr>
          <p:cNvPr id="20" name="Text 18"/>
          <p:cNvSpPr/>
          <p:nvPr/>
        </p:nvSpPr>
        <p:spPr>
          <a:xfrm>
            <a:off x="7284526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51882" y="3209544"/>
            <a:ext cx="164592" cy="164592"/>
          </a:xfrm>
          <a:prstGeom prst="ellipse">
            <a:avLst/>
          </a:prstGeom>
          <a:solidFill>
            <a:srgbClr val="CACBD3"/>
          </a:solidFill>
          <a:ln/>
        </p:spPr>
      </p:sp>
      <p:sp>
        <p:nvSpPr>
          <p:cNvPr id="22" name="Text 20"/>
          <p:cNvSpPr/>
          <p:nvPr/>
        </p:nvSpPr>
        <p:spPr>
          <a:xfrm>
            <a:off x="8259858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27215" y="3209544"/>
            <a:ext cx="164592" cy="164592"/>
          </a:xfrm>
          <a:prstGeom prst="ellipse">
            <a:avLst/>
          </a:prstGeom>
          <a:solidFill>
            <a:srgbClr val="CACBD3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191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402547" y="3209544"/>
            <a:ext cx="164592" cy="164592"/>
          </a:xfrm>
          <a:prstGeom prst="ellipse">
            <a:avLst/>
          </a:prstGeom>
          <a:solidFill>
            <a:srgbClr val="CACBD3"/>
          </a:solidFill>
          <a:ln/>
        </p:spPr>
      </p:sp>
      <p:sp>
        <p:nvSpPr>
          <p:cNvPr id="26" name="Text 24"/>
          <p:cNvSpPr/>
          <p:nvPr/>
        </p:nvSpPr>
        <p:spPr>
          <a:xfrm>
            <a:off x="10210523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377879" y="3209544"/>
            <a:ext cx="164592" cy="164592"/>
          </a:xfrm>
          <a:prstGeom prst="ellipse">
            <a:avLst/>
          </a:prstGeom>
          <a:solidFill>
            <a:srgbClr val="D69043"/>
          </a:solidFill>
          <a:ln/>
        </p:spPr>
      </p:sp>
      <p:sp>
        <p:nvSpPr>
          <p:cNvPr id="28" name="Text 26"/>
          <p:cNvSpPr/>
          <p:nvPr/>
        </p:nvSpPr>
        <p:spPr>
          <a:xfrm>
            <a:off x="11185855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Dez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-27432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Setup &amp; Recht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51677" y="4572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Piloten starten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53006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B2C-Launch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454335" y="4572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Seed-Runde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Kernteam — bereits in Umsetzung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9377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1188720" cy="1188720"/>
          </a:xfrm>
          <a:prstGeom prst="ellipse">
            <a:avLst/>
          </a:prstGeom>
          <a:solidFill>
            <a:srgbClr val="EFE9D9"/>
          </a:solidFill>
          <a:ln w="12700">
            <a:solidFill>
              <a:srgbClr val="E2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317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[Foto]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Vorname Nachname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/ Founder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154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20+ Jahre Führung · internationale Marken · von Verlust zu Profit.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2011680"/>
            <a:ext cx="1793138" cy="1828800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2194560"/>
            <a:ext cx="1427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Product &amp; Technology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89320" y="2697480"/>
            <a:ext cx="1427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Engineering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PM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28178" y="2011680"/>
            <a:ext cx="1793138" cy="1828800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11058" y="2194560"/>
            <a:ext cx="1427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Commercial &amp; Growth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11058" y="2697480"/>
            <a:ext cx="1427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BD Europe &amp; UK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Enterprise Sales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49917" y="2011680"/>
            <a:ext cx="1793138" cy="1828800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32797" y="2194560"/>
            <a:ext cx="1427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Operations &amp; Finance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32797" y="2697480"/>
            <a:ext cx="1427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Manager / COO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Supplier Mgmt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Organisationsstruktur (Seed Stage)  ·  + = geplante Einstellungen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Positionierung &amp; Preisgestaltung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B2C — Direktvertrieb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€40</a:t>
            </a:r>
            <a:pPr indent="0" marL="0">
              <a:buNone/>
            </a:pPr>
            <a:r>
              <a:rPr lang="en-US" sz="16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/Monat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€200</a:t>
            </a:r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Gerätepreis (einmalig)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Pflegekasse-erstattungsfähig · ARPU €480/Jahr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34924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Positionierung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9260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Kein Medizinprodukt — keine MDR-Regulatorik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Service-Plattform &amp; Kommunikationsschnittstelle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Integrator digitaler Dienste für Pflege &amp; Endnutzer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 €30/Nutzer/Monat SGB-XI-Erstattung für Anbieter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€450.000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Barkapitalinvestition · Pre-Money €3,6M · Min-Ticket €150K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(Mo 1–3)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€90K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84448"/>
            <a:ext cx="7498080" cy="0"/>
          </a:xfrm>
          <a:prstGeom prst="line">
            <a:avLst/>
          </a:prstGeom>
          <a:noFill/>
          <a:ln w="12700">
            <a:solidFill>
              <a:srgbClr val="E2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(Mo 4–9)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€220K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133088"/>
            <a:ext cx="7498080" cy="0"/>
          </a:xfrm>
          <a:prstGeom prst="line">
            <a:avLst/>
          </a:prstGeom>
          <a:noFill/>
          <a:ln w="12700">
            <a:solidFill>
              <a:srgbClr val="E2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B2C-Batch + Variable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€61K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81728"/>
            <a:ext cx="7498080" cy="0"/>
          </a:xfrm>
          <a:prstGeom prst="line">
            <a:avLst/>
          </a:prstGeom>
          <a:noFill/>
          <a:ln w="12700">
            <a:solidFill>
              <a:srgbClr val="E2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Puffer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€35K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30368"/>
            <a:ext cx="7498080" cy="0"/>
          </a:xfrm>
          <a:prstGeom prst="line">
            <a:avLst/>
          </a:prstGeom>
          <a:noFill/>
          <a:ln w="12700">
            <a:solidFill>
              <a:srgbClr val="E2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Pilot-Umsatz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−€116K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779008"/>
            <a:ext cx="7498080" cy="0"/>
          </a:xfrm>
          <a:prstGeom prst="line">
            <a:avLst/>
          </a:prstGeom>
          <a:noFill/>
          <a:ln w="12700">
            <a:solidFill>
              <a:srgbClr val="E2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3017520"/>
            <a:ext cx="310896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DDD0"/>
            </a:solidFill>
            <a:prstDash val="solid"/>
          </a:ln>
          <a:effectLst>
            <a:outerShdw sx="100000" sy="100000" kx="0" ky="0" algn="bl" rotWithShape="0" blurRad="127000" dist="38100" dir="5400000">
              <a:srgbClr val="2D3142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3252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Was der Pilot validiert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32520" y="365760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Product-Market-Fit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 (LTV/CAC &gt; 3)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&lt; 8%/Monat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DiPA-Evidenz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E6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„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Technologie im Dienst der Fürsorge — nicht umgekehrt.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caring by tech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algn="l" indent="0" marL="0">
              <a:buNone/>
            </a:pPr>
            <a:r>
              <a:rPr lang="en-US" sz="1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E6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KONTAKT · VARIANTE A — SURFACE DARK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5230368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indent="0" marL="0">
              <a:buNone/>
            </a:pPr>
            <a:r>
              <a:rPr lang="en-US" sz="5200" b="1" dirty="0">
                <a:solidFill>
                  <a:srgbClr val="D6904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9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caring by 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emai.group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info@emai.group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Telefon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+49 151 72632908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Adresse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5074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Gneisenaustraße 2, 65195 Wiesbaden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Dieses Dokument ist vertraulich und ausschließlich für den Adressaten bestimmt.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69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KONTAKT · VARIANTE B — AMBER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5230368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EMA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caring by 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emai.group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info@emai.group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Telefon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+49 151 72632908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Adresse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5074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Gneisenaustraße 2, 65195 Wiesbaden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Dieses Dokument ist vertraulich und ausschließlich für den Adressaten bestimmt.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 Präsentationsvorlage</dc:title>
  <dc:subject>PptxGenJS Presentation</dc:subject>
  <dc:creator>EMAi</dc:creator>
  <cp:lastModifiedBy>EMAi</cp:lastModifiedBy>
  <cp:revision>1</cp:revision>
  <dcterms:created xsi:type="dcterms:W3CDTF">2026-07-22T16:50:31Z</dcterms:created>
  <dcterms:modified xsi:type="dcterms:W3CDTF">2026-07-22T16:50:31Z</dcterms:modified>
</cp:coreProperties>
</file>